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171" y="2228850"/>
            <a:ext cx="5699659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00"/>
              </a:lnSpc>
              <a:spcAft>
                <a:spcPts val="3000"/>
              </a:spcAft>
              <a:buNone/>
            </a:pPr>
            <a:r>
              <a:rPr lang="en-US" sz="30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follows</a:t>
            </a:r>
            <a:endParaRPr lang="en-US" sz="3000" dirty="0"/>
          </a:p>
          <a:p>
            <a:pPr algn="ctr" indent="0" marL="0">
              <a:lnSpc>
                <a:spcPts val="3900"/>
              </a:lnSpc>
              <a:spcAft>
                <a:spcPts val="3000"/>
              </a:spcAft>
              <a:buNone/>
            </a:pPr>
            <a:r>
              <a:rPr lang="en-US" sz="30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velocity.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048000" y="3600450"/>
            <a:ext cx="762000" cy="38100"/>
          </a:xfrm>
          <a:prstGeom prst="roundRect">
            <a:avLst>
              <a:gd name="adj" fmla="val 66667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79171" y="4019550"/>
            <a:ext cx="5699659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bottleneck in SMB growth isn't capital.
</a:t>
            </a:r>
            <a:pPr algn="ctr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decision speed.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660" y="1991767"/>
            <a:ext cx="5440680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spcAft>
                <a:spcPts val="4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doesn't stall</a:t>
            </a:r>
            <a:endParaRPr lang="en-US" sz="2800" dirty="0"/>
          </a:p>
          <a:p>
            <a:pPr algn="ctr" indent="0" marL="0">
              <a:lnSpc>
                <a:spcPts val="3920"/>
              </a:lnSpc>
              <a:spcAft>
                <a:spcPts val="40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of strategy.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921050" y="3495080"/>
            <a:ext cx="1015901" cy="25301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8660" y="4028331"/>
            <a:ext cx="5440680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buNone/>
            </a:pPr>
            <a:r>
              <a:rPr lang="en-US" sz="22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stalls because decisions</a:t>
            </a:r>
            <a:endParaRPr lang="en-US" sz="2200" dirty="0"/>
          </a:p>
          <a:p>
            <a:pPr algn="ctr" indent="0" marL="0">
              <a:lnSpc>
                <a:spcPts val="3300"/>
              </a:lnSpc>
              <a:buNone/>
            </a:pPr>
            <a:r>
              <a:rPr lang="en-US" sz="22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too slowly.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239143"/>
            <a:ext cx="58293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800"/>
              </a:spcAft>
              <a:buNone/>
            </a:pPr>
            <a:r>
              <a:rPr lang="en-US" sz="2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decisions get stuck: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71500" y="1918543"/>
            <a:ext cx="5715000" cy="655290"/>
          </a:xfrm>
          <a:prstGeom prst="rect">
            <a:avLst/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95313" y="1918543"/>
            <a:ext cx="0" cy="65529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3026" y="2121694"/>
            <a:ext cx="526276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adjustments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sit for weeks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71500" y="2751534"/>
            <a:ext cx="5715000" cy="655290"/>
          </a:xfrm>
          <a:prstGeom prst="rect">
            <a:avLst/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95313" y="2751534"/>
            <a:ext cx="0" cy="65529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026" y="2954685"/>
            <a:ext cx="526276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 approvals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delayed indefinitely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1500" y="3584525"/>
            <a:ext cx="5715000" cy="655290"/>
          </a:xfrm>
          <a:prstGeom prst="rect">
            <a:avLst/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95313" y="3584525"/>
            <a:ext cx="0" cy="65529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026" y="3787676"/>
            <a:ext cx="526276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tests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wait for consensus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71500" y="4417516"/>
            <a:ext cx="5715000" cy="655290"/>
          </a:xfrm>
          <a:prstGeom prst="rect">
            <a:avLst/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95313" y="4417516"/>
            <a:ext cx="0" cy="655290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026" y="4620667"/>
            <a:ext cx="526276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exceptions </a:t>
            </a:r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require founder sign-off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4350" y="5352157"/>
            <a:ext cx="5829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00"/>
              </a:spcBef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delay compounds.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171" y="2143274"/>
            <a:ext cx="5699659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50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is leverage.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91567" y="3273475"/>
            <a:ext cx="1172617" cy="660202"/>
          </a:xfrm>
          <a:prstGeom prst="roundRect">
            <a:avLst>
              <a:gd name="adj" fmla="val 15389"/>
            </a:avLst>
          </a:prstGeom>
          <a:solidFill>
            <a:srgbClr val="3A3A3A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4209" y="3470225"/>
            <a:ext cx="5873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716584" y="3417838"/>
            <a:ext cx="33685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99233" y="3273475"/>
            <a:ext cx="1701850" cy="660202"/>
          </a:xfrm>
          <a:prstGeom prst="roundRect">
            <a:avLst>
              <a:gd name="adj" fmla="val 15389"/>
            </a:avLst>
          </a:prstGeom>
          <a:solidFill>
            <a:srgbClr val="3A3A3A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486583" y="3470225"/>
            <a:ext cx="112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53483" y="3417838"/>
            <a:ext cx="33685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36132" y="3273475"/>
            <a:ext cx="1930450" cy="660202"/>
          </a:xfrm>
          <a:prstGeom prst="roundRect">
            <a:avLst>
              <a:gd name="adj" fmla="val 15389"/>
            </a:avLst>
          </a:prstGeom>
          <a:solidFill>
            <a:srgbClr val="3A3A3A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21196" y="3470225"/>
            <a:ext cx="136032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79171" y="4505176"/>
            <a:ext cx="569965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500"/>
              </a:spcBef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the time between each stage.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1035546"/>
            <a:ext cx="5829300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0"/>
              </a:lnSpc>
              <a:spcAft>
                <a:spcPts val="35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high-velocity orgs</a:t>
            </a:r>
            <a:endParaRPr lang="en-US" sz="2200" dirty="0"/>
          </a:p>
          <a:p>
            <a:pPr algn="l" indent="0" marL="0">
              <a:lnSpc>
                <a:spcPts val="3080"/>
              </a:lnSpc>
              <a:spcAft>
                <a:spcPts val="35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differently: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71500" y="226189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73229" y="2395240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33500" y="2368600"/>
            <a:ext cx="168488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ownership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71500" y="312539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73229" y="3258741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33500" y="3232100"/>
            <a:ext cx="23590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Defined decision rights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" y="3988891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3229" y="4122241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33500" y="4095601"/>
            <a:ext cx="230636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KPI visibility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71500" y="49056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73229" y="5039023"/>
            <a:ext cx="12979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3500" y="4852392"/>
            <a:ext cx="2242307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without</a:t>
            </a:r>
            <a:endParaRPr lang="en-US" sz="1800" dirty="0"/>
          </a:p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192164"/>
            <a:ext cx="5699962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decisions create hidden friction.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2824535"/>
            <a:ext cx="3301901" cy="38100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34901" y="3065785"/>
            <a:ext cx="5699962" cy="52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60"/>
              </a:lnSpc>
              <a:spcAft>
                <a:spcPts val="800"/>
              </a:spcAft>
              <a:buNone/>
            </a:pPr>
            <a:r>
              <a:rPr lang="en-US" sz="32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Friction kills momentum.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34901" y="3797275"/>
            <a:ext cx="4317950" cy="38100"/>
          </a:xfrm>
          <a:prstGeom prst="rect">
            <a:avLst/>
          </a:prstGeom>
          <a:solidFill>
            <a:srgbClr val="5555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4038526"/>
            <a:ext cx="5699962" cy="62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4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drives scale.</a:t>
            </a:r>
            <a:endParaRPr lang="en-US" sz="3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660" y="2063800"/>
            <a:ext cx="5440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growth has plateaued,</a:t>
            </a:r>
            <a:endParaRPr lang="en-US" sz="1800" dirty="0"/>
          </a:p>
          <a:p>
            <a:pPr algn="ctr" indent="0" marL="0">
              <a:lnSpc>
                <a:spcPts val="270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isn't</a:t>
            </a:r>
            <a:endParaRPr lang="en-US" sz="1800" dirty="0"/>
          </a:p>
          <a:p>
            <a:pPr algn="ctr" indent="0" marL="0">
              <a:lnSpc>
                <a:spcPts val="2700"/>
              </a:lnSpc>
              <a:spcAft>
                <a:spcPts val="3000"/>
              </a:spcAft>
              <a:buNone/>
            </a:pPr>
            <a:r>
              <a:rPr lang="en-US" sz="1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our strategy?"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174950" y="3473500"/>
            <a:ext cx="507950" cy="25301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8660" y="3879800"/>
            <a:ext cx="5440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It's "How long does it</a:t>
            </a:r>
            <a:endParaRPr lang="en-US" sz="24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us to decide?"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918915"/>
            <a:ext cx="5334000" cy="1943100"/>
          </a:xfrm>
          <a:prstGeom prst="roundRect">
            <a:avLst>
              <a:gd name="adj" fmla="val 5229"/>
            </a:avLst>
          </a:prstGeom>
          <a:noFill/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16711" y="2318965"/>
            <a:ext cx="46245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last 5 decisions
that took more than a week.
</a:t>
            </a:r>
            <a:pPr algn="ctr" indent="0" marL="0">
              <a:lnSpc>
                <a:spcPts val="3000"/>
              </a:lnSpc>
              <a:buNone/>
            </a:pPr>
            <a:r>
              <a:rPr lang="en-US" sz="20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find your growth ceiling.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08660" y="4369966"/>
            <a:ext cx="5440680" cy="5691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for more</a:t>
            </a:r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operational</a:t>
            </a:r>
            <a:endParaRPr lang="en-US" sz="1400" dirty="0"/>
          </a:p>
          <a:p>
            <a:pPr algn="ctr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and SMB growth.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SMB Decision Speed</dc:title>
  <dc:subject>PptxGenJS Presentation</dc:subject>
  <dc:creator>Diego Vences</dc:creator>
  <cp:lastModifiedBy>Diego Vences</cp:lastModifiedBy>
  <cp:revision>1</cp:revision>
  <dcterms:created xsi:type="dcterms:W3CDTF">2026-03-03T05:59:57Z</dcterms:created>
  <dcterms:modified xsi:type="dcterms:W3CDTF">2026-03-03T05:59:57Z</dcterms:modified>
</cp:coreProperties>
</file>