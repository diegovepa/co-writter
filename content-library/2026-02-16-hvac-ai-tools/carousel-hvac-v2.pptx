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$108K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/YEAR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40233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the average HVAC contractor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loses to missed calls alone.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51206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3D3D3D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study of 1,200+ contractors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217920"/>
            <a:ext cx="5760720" cy="1463040"/>
          </a:xfrm>
          <a:prstGeom prst="roundRect">
            <a:avLst>
              <a:gd name="adj" fmla="val 7500"/>
            </a:avLst>
          </a:prstGeom>
          <a:solidFill>
            <a:srgbClr val="E8611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35508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 TOOLS HVAC CONTRACTORS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USING TO FIX THIS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7269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see the ROI breakdown →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REVENUE LEAK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math most contractors don't run: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943600" cy="3840480"/>
          </a:xfrm>
          <a:prstGeom prst="roundRect">
            <a:avLst>
              <a:gd name="adj" fmla="val 2857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missed calls/month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51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$180 avg call value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85% won't call back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394960" cy="27432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148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$7,650/month LOST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$91,800/year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603504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E861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6035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YOUR number?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5760" y="71323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 news: These leaks are fixable.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</a:t>
            </a:r>
            <a:pPr algn="ctr" indent="0" marL="0">
              <a:buNone/>
            </a:pPr>
            <a:r>
              <a:rPr lang="en-US" sz="26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THROUGH REVENUE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Again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Virtual Agent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943600" cy="1828800"/>
          </a:xfrm>
          <a:prstGeom prst="roundRect">
            <a:avLst>
              <a:gd name="adj" fmla="val 6000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 $100/month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 $2,000+ in captured leads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  20x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E861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572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861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literally sleeping through $80,000/month in emergency revenue. People's AC breaks at 9 PM in 105-degree weather—they're not waiting until morning.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HVAC Company Owner, Dallas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6858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calls/texts 24/7  •  Books appointments  •  Answers FAQs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HOURS/WEEK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Scheduling &amp; Dispatch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943600" cy="3200400"/>
          </a:xfrm>
          <a:prstGeom prst="roundRect">
            <a:avLst>
              <a:gd name="adj" fmla="val 3429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5943600" cy="50292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58521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routing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5852160" cy="502920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calls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474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3474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585216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1752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977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" y="4434840"/>
            <a:ext cx="5852160" cy="502920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80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Paperwork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7520" y="4480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480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4983480"/>
            <a:ext cx="5852160" cy="54864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029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SAVED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80560" y="5029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97280" y="594360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7280" y="5943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 less drive time (ServiceTitan data)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5760" y="6858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$150/month  |  ROI: 10x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834640" cy="2560320"/>
          </a:xfrm>
          <a:prstGeom prst="roundRect">
            <a:avLst>
              <a:gd name="adj" fmla="val 3571"/>
            </a:avLst>
          </a:prstGeom>
          <a:solidFill>
            <a:srgbClr val="3A2020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wasted trips/mo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 lost/mo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66160" y="2377440"/>
            <a:ext cx="2834640" cy="2560320"/>
          </a:xfrm>
          <a:prstGeom prst="roundRect">
            <a:avLst>
              <a:gd name="adj" fmla="val 3571"/>
            </a:avLst>
          </a:prstGeom>
          <a:solidFill>
            <a:srgbClr val="1A3020"/>
          </a:solidFill>
          <a:ln w="19050">
            <a:solidFill>
              <a:srgbClr val="44CC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4688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566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wasted trips/mo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297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C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 lost/mo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3291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5943600" cy="1645920"/>
          </a:xfrm>
          <a:prstGeom prst="roundRect">
            <a:avLst>
              <a:gd name="adj" fmla="val 5556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235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72 hrs → Email confirmation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59161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24 hrs → Text reminder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620877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2 hrs → "Confirm or reschedule"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65013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30 min → "Tech en route" SMS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7040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$15/month  |  Setup: 45 min  |  Savings: $3,600/month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</a:t>
            </a:r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 &amp; Invoice Follow-ups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943600" cy="2194560"/>
          </a:xfrm>
          <a:prstGeom prst="roundRect">
            <a:avLst>
              <a:gd name="adj" fmla="val 5000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68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AUTO-REMINDER SEQUENCE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Friendly reminder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661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566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160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4160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 notice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5943600" cy="1828800"/>
          </a:xfrm>
          <a:prstGeom prst="roundRect">
            <a:avLst>
              <a:gd name="adj" fmla="val 6000"/>
            </a:avLst>
          </a:prstGeom>
          <a:solidFill>
            <a:srgbClr val="E861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5257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Revenue recovered: $2K+/month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5669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Time saved: 3 hrs/week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6080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Cash flow: 40% faster payments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68580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Investment: $50/month  |  ROI: 40x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0" y="8092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E8611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0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#5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</a:t>
            </a:r>
            <a:pPr algn="ctr" indent="0" marL="0">
              <a:buNone/>
            </a:pPr>
            <a:r>
              <a:rPr lang="en-US" sz="2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Diagnostics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Real-time data capture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154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204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AI pinpoints issues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0040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457200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3D3D3D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72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Guided repairs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4400" y="562356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E8611A"/>
          </a:solidFill>
          <a:ln w="19050">
            <a:solidFill>
              <a:srgbClr val="E861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235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Faster fixes + Fewer callbacks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5394960" cy="822960"/>
          </a:xfrm>
          <a:prstGeom prst="roundRect">
            <a:avLst>
              <a:gd name="adj" fmla="val 11111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64465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higher customer satisfaction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6858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automated service (Aberdeen Report)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09728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✦  ✦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0" y="228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ctr" indent="0" marL="0">
              <a:buNone/>
            </a:pPr>
            <a:r>
              <a:rPr lang="en-US" sz="2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BORING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Pays for Itself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6126480" cy="3657600"/>
          </a:xfrm>
          <a:prstGeom prst="roundRect">
            <a:avLst>
              <a:gd name="adj" fmla="val 3000"/>
            </a:avLst>
          </a:prstGeom>
          <a:solidFill>
            <a:srgbClr val="3D3D3D"/>
          </a:solidFill>
          <a:ln w="25400">
            <a:solidFill>
              <a:srgbClr val="E861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6126480" cy="45720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737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21992"/>
            <a:ext cx="603504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2240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724912"/>
            <a:ext cx="6035040" cy="502920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743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227832"/>
            <a:ext cx="6035040" cy="502920"/>
          </a:xfrm>
          <a:prstGeom prst="rect">
            <a:avLst/>
          </a:prstGeom>
          <a:solidFill>
            <a:srgbClr val="3D3D3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246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0" y="3246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$3,600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240x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730752"/>
            <a:ext cx="6035040" cy="502920"/>
          </a:xfrm>
          <a:prstGeom prst="rect">
            <a:avLst/>
          </a:prstGeom>
          <a:solidFill>
            <a:srgbClr val="35353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49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 Auto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749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" y="4251960"/>
            <a:ext cx="6035040" cy="548640"/>
          </a:xfrm>
          <a:prstGeom prst="rect">
            <a:avLst/>
          </a:prstGeom>
          <a:solidFill>
            <a:srgbClr val="E8611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51760" y="4297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0480" y="4297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$9,100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1208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29x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1520" y="5669280"/>
            <a:ext cx="5394960" cy="731520"/>
          </a:xfrm>
          <a:prstGeom prst="roundRect">
            <a:avLst>
              <a:gd name="adj" fmla="val 12500"/>
            </a:avLst>
          </a:prstGeom>
          <a:solidFill>
            <a:srgbClr val="E8611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6692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automate FIRST?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" y="65836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ServiceTitan, Aberdeen Group, CallBird AI, ACHR News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7040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1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@DiegoVences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65760" y="74980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aren't cutting-edge AI experiments.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They're simple tools that free you to focus on what matters.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HVAC AI Tools - 5 Tools to Save 10+ Hours/Week</dc:title>
  <dc:subject>PptxGenJS Presentation</dc:subject>
  <dc:creator>Diego Vences</dc:creator>
  <cp:lastModifiedBy>Diego Vences</cp:lastModifiedBy>
  <cp:revision>1</cp:revision>
  <dcterms:created xsi:type="dcterms:W3CDTF">2026-02-19T02:51:45Z</dcterms:created>
  <dcterms:modified xsi:type="dcterms:W3CDTF">2026-02-19T02:51:45Z</dcterms:modified>
</cp:coreProperties>
</file>